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Analgesia Predictor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Updated preprocessing, metrics, and figures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Split Characteristics (Table 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88620">
                <a:tc>
                  <a:txBody>
                    <a:bodyPr/>
                    <a:lstStyle/>
                    <a:p>
                      <a: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Outcome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 mean (SD)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Female patients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Female physicians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VAS_on_scene mean (SD)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NACA mean (SD)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46.8 ± 19.4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6.9 ± 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46.6 ± 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6.8 ± 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nan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45.3 ± 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6.9 ± 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 by Split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536"/>
                <a:gridCol w="859536"/>
                <a:gridCol w="859536"/>
                <a:gridCol w="859536"/>
                <a:gridCol w="859536"/>
                <a:gridCol w="859536"/>
                <a:gridCol w="859536"/>
                <a:gridCol w="859536"/>
                <a:gridCol w="859536"/>
                <a:gridCol w="859536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Average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Brier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0.223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0.204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Cross-validation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Average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Average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 Comparison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Brier Score Comparison</a:t>
            </a:r>
          </a:p>
        </p:txBody>
      </p:sp>
      <p:pic>
        <p:nvPicPr>
          <p:cNvPr id="3" name="Picture 2" descr="brier_sco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Comparison</a:t>
            </a:r>
          </a:p>
        </p:txBody>
      </p:sp>
      <p:pic>
        <p:nvPicPr>
          <p:cNvPr id="3" name="Picture 2" descr="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Precision-Recall Curve</a:t>
            </a:r>
          </a:p>
        </p:txBody>
      </p:sp>
      <p:pic>
        <p:nvPicPr>
          <p:cNvPr id="3" name="Picture 2" descr="p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Calibration Curve</a:t>
            </a:r>
          </a:p>
        </p:txBody>
      </p:sp>
      <p:pic>
        <p:nvPicPr>
          <p:cNvPr id="3" name="Picture 2" descr="calibr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Logistic Regression – Top Positive Coefficients</a:t>
            </a:r>
          </a:p>
        </p:txBody>
      </p:sp>
      <p:pic>
        <p:nvPicPr>
          <p:cNvPr id="3" name="Picture 2" descr="logistic_top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55517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Logistic Regression – Top Negative Coefficients</a:t>
            </a:r>
          </a:p>
        </p:txBody>
      </p:sp>
      <p:pic>
        <p:nvPicPr>
          <p:cNvPr id="3" name="Picture 2" descr="logistic_top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55517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Logistic Regression – Largest Absolute Effects</a:t>
            </a:r>
          </a:p>
        </p:txBody>
      </p:sp>
      <p:pic>
        <p:nvPicPr>
          <p:cNvPr id="3" name="Picture 2" descr="logistic_top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55517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XGBoost Feature Importances</a:t>
            </a:r>
          </a:p>
        </p:txBody>
      </p:sp>
      <p:pic>
        <p:nvPicPr>
          <p:cNvPr id="3" name="Picture 2" descr="xgboost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7772400" cy="55517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